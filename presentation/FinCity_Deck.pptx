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62544-5322-BDE5-FD35-FAD4426E6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323A4-2C8B-0E8C-13CD-59F91A1D9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C9797-A59E-38ED-1E38-D505B55C8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CE99C-91AA-11E5-C509-9CBC841E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5BF3B-967A-712F-385D-4F3A9D9D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769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427E-6959-BBB0-21B9-C35C724C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3429-EE22-F611-9CEF-75E1C7FAA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A91FB-5F4D-27E7-95C3-D9C927BE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1E01F-1897-124E-F0E6-34BCE6B6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16304-8081-5D80-BDF8-FCF6F718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862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2828-3FC6-F234-D237-53D335E4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F38A7-0579-2C4A-1B06-60EDA0E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9A2BF-45C9-D66E-7363-3BA45AD0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2D71-6297-57E7-824B-1DF020D2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9619B-E7B9-9DA4-8F95-E6829D4D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1305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DBA89-751D-0097-1928-C9AF5F30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3A70-1DC4-750A-FE4A-9E01EB98B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35BC0-E9EA-0710-4B37-ECE38DD7B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68306-3649-0131-CB2C-1C54CE0C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FAAA1-36A3-DF58-3D35-F80D82E0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775F6-0C38-7B7C-1BD8-A0AE59BE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764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8E9A-229E-A559-85E1-80C13A74F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125E4-37E2-4B91-80F3-90A5367B9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1D480-9558-A952-0DC0-112B6B325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9F6CA-4572-4B0B-63A7-61CC070F3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8A4D16-FB55-D6C2-FA95-EF07D94D5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756A1-27E3-6E21-AB57-A05E9D69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03CFC7-9FC3-9F3E-560A-86826F3E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8F96A-4616-4BBF-6611-4032D3C7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763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8AE6-B483-03CB-6C9F-C338BAA25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BA657-48C7-F96C-2A10-3F740941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8E9D3-1076-4E86-EBD7-E4E0BDE1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27E61-4655-76FD-8A13-AAC317B6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146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06F61-44C4-3980-C7A6-0B721D0F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2006B-734E-124A-30C5-2CB00AA4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5D88E-79F5-7EC7-AEE3-13D72E02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818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7DD4-1E4F-203F-2B63-078566DD2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DFD5-EE1F-CA73-4239-6FE05257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7BB1B-AE90-0860-549E-B66F2BE0F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922E4-AA78-6D7B-BB87-1E9C2E7E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302A0-5257-EB97-0336-2B7977627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6BF59-45EE-C50B-A2FA-2FBBC393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879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9670-635E-FC25-B583-AAA049B60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42051-B2F6-42B3-EBED-55EE18F14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0844F-508D-7E3C-894B-4F9D6F9BE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839F7-1358-D809-5044-C705989C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436AF-D8A8-7491-A237-1F69923F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72CA0-42A4-0496-FF7C-D5C43242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1279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CADB-6D76-4A4E-B6EA-66605F6B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B4D6F-BDB7-8E0C-E500-5DF7655DA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C1B66-9FBE-FF97-7211-F07AE7B8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33423-A741-29CE-7184-D57642FE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BC917-AC28-FB6B-0A51-399347E5D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963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FA8F4-4F93-D553-88EC-E547EA88D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A38C2-CE72-B453-9359-3F6B8E219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3B996-B59D-1BE9-E751-4D60CA8D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8BCD9-C984-CDFA-42F6-CC84C52D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71E82-179D-7EB5-4F7B-0FE65B56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151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06C90-C072-144B-DF38-740D4FCE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6E08A-1FE3-EA1D-33A5-4459AFC48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6BCF8-759D-54C0-89A7-91F29D89F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C1135-F295-4B43-9DC9-625BCAF387AC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7B7BA-DACB-06B4-48BA-DB651872F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2F9D7-98DC-1738-F677-46B549773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789D7-EB6B-4AB3-904E-8795742EB0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235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37F3A0F-E562-0FB4-6A7E-74D00445B42E}"/>
              </a:ext>
            </a:extLst>
          </p:cNvPr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1A0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A1202FF-EE1F-B166-BDF0-9E07BA8604CB}"/>
              </a:ext>
            </a:extLst>
          </p:cNvPr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1F0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54EE56-86DE-47CB-F0B9-516437AAE369}"/>
              </a:ext>
            </a:extLst>
          </p:cNvPr>
          <p:cNvSpPr/>
          <p:nvPr/>
        </p:nvSpPr>
        <p:spPr>
          <a:xfrm>
            <a:off x="0" y="4114800"/>
            <a:ext cx="1828800" cy="1828800"/>
          </a:xfrm>
          <a:prstGeom prst="ellipse">
            <a:avLst/>
          </a:prstGeom>
          <a:solidFill>
            <a:srgbClr val="1707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B48C6B-FD88-247D-4F38-224BE1D7B23F}"/>
              </a:ext>
            </a:extLst>
          </p:cNvPr>
          <p:cNvSpPr/>
          <p:nvPr/>
        </p:nvSpPr>
        <p:spPr>
          <a:xfrm>
            <a:off x="7452360" y="246888"/>
            <a:ext cx="1508760" cy="329184"/>
          </a:xfrm>
          <a:prstGeom prst="rect">
            <a:avLst/>
          </a:prstGeom>
          <a:solidFill>
            <a:srgbClr val="A10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>
                <a:solidFill>
                  <a:srgbClr val="FFFFFF"/>
                </a:solidFill>
                <a:latin typeface="Calibri" panose="020F0502020204030204" pitchFamily="34" charset="0"/>
              </a:rPr>
              <a:t>ACCENTURE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CB137-FADF-92F4-A364-7248DA723543}"/>
              </a:ext>
            </a:extLst>
          </p:cNvPr>
          <p:cNvSpPr txBox="1"/>
          <p:nvPr/>
        </p:nvSpPr>
        <p:spPr>
          <a:xfrm>
            <a:off x="457200" y="731520"/>
            <a:ext cx="8229600" cy="2560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000" b="1">
                <a:solidFill>
                  <a:srgbClr val="A100FF"/>
                </a:solidFill>
                <a:latin typeface="Calibri" panose="020F0502020204030204" pitchFamily="34" charset="0"/>
              </a:rPr>
              <a:t>AI HACKATHON 2026  -  EDUCAZIONE FINANZIARIA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9B6312-BC60-A451-5930-F300902AA20D}"/>
              </a:ext>
            </a:extLst>
          </p:cNvPr>
          <p:cNvSpPr/>
          <p:nvPr/>
        </p:nvSpPr>
        <p:spPr>
          <a:xfrm>
            <a:off x="438912" y="1005840"/>
            <a:ext cx="685800" cy="685800"/>
          </a:xfrm>
          <a:prstGeom prst="ellipse">
            <a:avLst/>
          </a:prstGeom>
          <a:solidFill>
            <a:srgbClr val="2A0060"/>
          </a:solidFill>
          <a:ln w="19050">
            <a:solidFill>
              <a:srgbClr val="A1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it-IT" sz="2200" b="1">
                <a:solidFill>
                  <a:srgbClr val="A100FF"/>
                </a:solidFill>
                <a:latin typeface="Cambria" panose="02040503050406030204" pitchFamily="18" charset="0"/>
              </a:rPr>
              <a:t>FC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ECF5F9-2276-2E38-BB87-4755CDFCFFD1}"/>
              </a:ext>
            </a:extLst>
          </p:cNvPr>
          <p:cNvSpPr txBox="1"/>
          <p:nvPr/>
        </p:nvSpPr>
        <p:spPr>
          <a:xfrm>
            <a:off x="1298448" y="960120"/>
            <a:ext cx="6858000" cy="13258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7200" b="1">
                <a:solidFill>
                  <a:srgbClr val="FFFFFF"/>
                </a:solidFill>
                <a:latin typeface="Cambria" panose="02040503050406030204" pitchFamily="18" charset="0"/>
              </a:rPr>
              <a:t>FinCity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EBEF1-DD41-DFD0-1993-42E2F15CDAAB}"/>
              </a:ext>
            </a:extLst>
          </p:cNvPr>
          <p:cNvSpPr txBox="1"/>
          <p:nvPr/>
        </p:nvSpPr>
        <p:spPr>
          <a:xfrm>
            <a:off x="457200" y="2468880"/>
            <a:ext cx="6858000" cy="777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>
                <a:solidFill>
                  <a:srgbClr val="DDDDDD"/>
                </a:solidFill>
                <a:latin typeface="Calibri" panose="020F0502020204030204" pitchFamily="34" charset="0"/>
              </a:rPr>
              <a:t>Costruisci il tuo futuro finanziario, un mese alla volta.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03CBFD-36FE-0D2E-5539-3C53D3C2B0CE}"/>
              </a:ext>
            </a:extLst>
          </p:cNvPr>
          <p:cNvSpPr/>
          <p:nvPr/>
        </p:nvSpPr>
        <p:spPr>
          <a:xfrm>
            <a:off x="457200" y="3337560"/>
            <a:ext cx="1920240" cy="347472"/>
          </a:xfrm>
          <a:prstGeom prst="roundRect">
            <a:avLst>
              <a:gd name="adj" fmla="val 15000"/>
            </a:avLst>
          </a:prstGeom>
          <a:solidFill>
            <a:srgbClr val="12122A"/>
          </a:solidFill>
          <a:ln w="15240">
            <a:solidFill>
              <a:srgbClr val="A1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it-IT" sz="1100" b="1">
                <a:solidFill>
                  <a:srgbClr val="CC88FF"/>
                </a:solidFill>
                <a:latin typeface="Calibri" panose="020F0502020204030204" pitchFamily="34" charset="0"/>
              </a:rPr>
              <a:t>City Builder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7F41F3-318A-AA0A-9777-6241CBEBE98A}"/>
              </a:ext>
            </a:extLst>
          </p:cNvPr>
          <p:cNvSpPr/>
          <p:nvPr/>
        </p:nvSpPr>
        <p:spPr>
          <a:xfrm>
            <a:off x="2514600" y="3337560"/>
            <a:ext cx="1920240" cy="347472"/>
          </a:xfrm>
          <a:prstGeom prst="roundRect">
            <a:avLst>
              <a:gd name="adj" fmla="val 15000"/>
            </a:avLst>
          </a:prstGeom>
          <a:solidFill>
            <a:srgbClr val="12122A"/>
          </a:solidFill>
          <a:ln w="15240">
            <a:solidFill>
              <a:srgbClr val="A1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it-IT" sz="1100" b="1">
                <a:solidFill>
                  <a:srgbClr val="CC88FF"/>
                </a:solidFill>
                <a:latin typeface="Calibri" panose="020F0502020204030204" pitchFamily="34" charset="0"/>
              </a:rPr>
              <a:t>Claude AI Coach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4CDCD6-D60D-6638-0E4B-D5E436AFDBF5}"/>
              </a:ext>
            </a:extLst>
          </p:cNvPr>
          <p:cNvSpPr/>
          <p:nvPr/>
        </p:nvSpPr>
        <p:spPr>
          <a:xfrm>
            <a:off x="4572000" y="3337560"/>
            <a:ext cx="1920240" cy="347472"/>
          </a:xfrm>
          <a:prstGeom prst="roundRect">
            <a:avLst>
              <a:gd name="adj" fmla="val 15000"/>
            </a:avLst>
          </a:prstGeom>
          <a:solidFill>
            <a:srgbClr val="12122A"/>
          </a:solidFill>
          <a:ln w="15240">
            <a:solidFill>
              <a:srgbClr val="A1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it-IT" sz="1100" b="1">
                <a:solidFill>
                  <a:srgbClr val="CC88FF"/>
                </a:solidFill>
                <a:latin typeface="Calibri" panose="020F0502020204030204" pitchFamily="34" charset="0"/>
              </a:rPr>
              <a:t>Agentic Coding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5DE4C-253D-4253-284D-868A55B4C0B6}"/>
              </a:ext>
            </a:extLst>
          </p:cNvPr>
          <p:cNvSpPr txBox="1"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000">
                <a:solidFill>
                  <a:srgbClr val="444444"/>
                </a:solidFill>
                <a:latin typeface="Calibri" panose="020F0502020204030204" pitchFamily="34" charset="0"/>
              </a:rPr>
              <a:t>Salvatore Mangano  -  Accenture</a:t>
            </a:r>
          </a:p>
        </p:txBody>
      </p:sp>
    </p:spTree>
    <p:extLst>
      <p:ext uri="{BB962C8B-B14F-4D97-AF65-F5344CB8AC3E}">
        <p14:creationId xmlns:p14="http://schemas.microsoft.com/office/powerpoint/2010/main" val="152046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B0E14-734F-AB11-49FB-0713BD23CBFD}"/>
              </a:ext>
            </a:extLst>
          </p:cNvPr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000" b="1">
                <a:solidFill>
                  <a:srgbClr val="A100FF"/>
                </a:solidFill>
                <a:latin typeface="Calibri" panose="020F0502020204030204" pitchFamily="34" charset="0"/>
              </a:rPr>
              <a:t>IL PROBLEMA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C04D3-FA00-F307-0175-66F3AC389535}"/>
              </a:ext>
            </a:extLst>
          </p:cNvPr>
          <p:cNvSpPr txBox="1"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3400" b="1">
                <a:solidFill>
                  <a:srgbClr val="111111"/>
                </a:solidFill>
                <a:latin typeface="Cambria" panose="02040503050406030204" pitchFamily="18" charset="0"/>
              </a:rPr>
              <a:t>L'Italia ha un problema
di alfabetizzazione finanziaria.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32A0B-43DA-EAA5-E4CC-A071CD3266CE}"/>
              </a:ext>
            </a:extLst>
          </p:cNvPr>
          <p:cNvSpPr txBox="1"/>
          <p:nvPr/>
        </p:nvSpPr>
        <p:spPr>
          <a:xfrm>
            <a:off x="457200" y="1627632"/>
            <a:ext cx="8229600" cy="3474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>
                <a:solidFill>
                  <a:srgbClr val="555555"/>
                </a:solidFill>
                <a:latin typeface="Calibri" panose="020F0502020204030204" pitchFamily="34" charset="0"/>
              </a:rPr>
              <a:t>Corsi e libri non bastano. Serve un approccio esperienziale, concreto, coinvolgente.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AC8E64-F829-B1D2-ABD2-702098487AC0}"/>
              </a:ext>
            </a:extLst>
          </p:cNvPr>
          <p:cNvSpPr/>
          <p:nvPr/>
        </p:nvSpPr>
        <p:spPr>
          <a:xfrm>
            <a:off x="438912" y="2084832"/>
            <a:ext cx="2715768" cy="2670048"/>
          </a:xfrm>
          <a:prstGeom prst="rect">
            <a:avLst/>
          </a:prstGeom>
          <a:solidFill>
            <a:srgbClr val="0808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0786E0-2771-3AE8-A688-74C70CA851C2}"/>
              </a:ext>
            </a:extLst>
          </p:cNvPr>
          <p:cNvSpPr txBox="1"/>
          <p:nvPr/>
        </p:nvSpPr>
        <p:spPr>
          <a:xfrm>
            <a:off x="576072" y="2194560"/>
            <a:ext cx="246888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4400" b="1">
                <a:solidFill>
                  <a:srgbClr val="A100FF"/>
                </a:solidFill>
                <a:latin typeface="Cambria" panose="02040503050406030204" pitchFamily="18" charset="0"/>
              </a:rPr>
              <a:t>37 su 39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9D506-9C65-1D4C-B647-6D0F71FA5CF7}"/>
              </a:ext>
            </a:extLst>
          </p:cNvPr>
          <p:cNvSpPr txBox="1"/>
          <p:nvPr/>
        </p:nvSpPr>
        <p:spPr>
          <a:xfrm>
            <a:off x="576072" y="3145536"/>
            <a:ext cx="246888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 b="1">
                <a:solidFill>
                  <a:srgbClr val="CC88FF"/>
                </a:solidFill>
                <a:latin typeface="Calibri" panose="020F0502020204030204" pitchFamily="34" charset="0"/>
              </a:rPr>
              <a:t>Posizione OCSE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FF7B07-07E9-CD40-06A7-4DD399EFE507}"/>
              </a:ext>
            </a:extLst>
          </p:cNvPr>
          <p:cNvSpPr txBox="1"/>
          <p:nvPr/>
        </p:nvSpPr>
        <p:spPr>
          <a:xfrm>
            <a:off x="576072" y="3474720"/>
            <a:ext cx="246888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>
                <a:solidFill>
                  <a:srgbClr val="888888"/>
                </a:solidFill>
                <a:latin typeface="Calibri" panose="020F0502020204030204" pitchFamily="34" charset="0"/>
              </a:rPr>
              <a:t>L'Italia e' al 37 posto su 39 Paesi OCSE per alfabetizzazione finanziaria adulta (OCSE 2023)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ED5624-408B-AD76-6BE1-B84F1E9980E4}"/>
              </a:ext>
            </a:extLst>
          </p:cNvPr>
          <p:cNvSpPr/>
          <p:nvPr/>
        </p:nvSpPr>
        <p:spPr>
          <a:xfrm>
            <a:off x="3319272" y="2084832"/>
            <a:ext cx="2715768" cy="2670048"/>
          </a:xfrm>
          <a:prstGeom prst="rect">
            <a:avLst/>
          </a:prstGeom>
          <a:solidFill>
            <a:srgbClr val="0808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596987-E766-236E-F7BA-9825458210EC}"/>
              </a:ext>
            </a:extLst>
          </p:cNvPr>
          <p:cNvSpPr txBox="1"/>
          <p:nvPr/>
        </p:nvSpPr>
        <p:spPr>
          <a:xfrm>
            <a:off x="3456432" y="2194560"/>
            <a:ext cx="246888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4400" b="1">
                <a:solidFill>
                  <a:srgbClr val="A100FF"/>
                </a:solidFill>
                <a:latin typeface="Cambria" panose="02040503050406030204" pitchFamily="18" charset="0"/>
              </a:rPr>
              <a:t>58%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180F1-A31B-2421-EED7-15505015A63D}"/>
              </a:ext>
            </a:extLst>
          </p:cNvPr>
          <p:cNvSpPr txBox="1"/>
          <p:nvPr/>
        </p:nvSpPr>
        <p:spPr>
          <a:xfrm>
            <a:off x="3456432" y="3145536"/>
            <a:ext cx="246888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 b="1">
                <a:solidFill>
                  <a:srgbClr val="CC88FF"/>
                </a:solidFill>
                <a:latin typeface="Calibri" panose="020F0502020204030204" pitchFamily="34" charset="0"/>
              </a:rPr>
              <a:t>degli italiani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2BD5F8-2580-E8B7-BC37-146987278AC4}"/>
              </a:ext>
            </a:extLst>
          </p:cNvPr>
          <p:cNvSpPr txBox="1"/>
          <p:nvPr/>
        </p:nvSpPr>
        <p:spPr>
          <a:xfrm>
            <a:off x="3456432" y="3474720"/>
            <a:ext cx="246888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>
                <a:solidFill>
                  <a:srgbClr val="888888"/>
                </a:solidFill>
                <a:latin typeface="Calibri" panose="020F0502020204030204" pitchFamily="34" charset="0"/>
              </a:rPr>
              <a:t>Non ha un fondo emergenza adeguato pari a 3 mesi di spese correnti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CCFF56-91C3-1A6C-1C30-4D2D88C6B05A}"/>
              </a:ext>
            </a:extLst>
          </p:cNvPr>
          <p:cNvSpPr/>
          <p:nvPr/>
        </p:nvSpPr>
        <p:spPr>
          <a:xfrm>
            <a:off x="6199632" y="2084832"/>
            <a:ext cx="2715768" cy="2670048"/>
          </a:xfrm>
          <a:prstGeom prst="rect">
            <a:avLst/>
          </a:prstGeom>
          <a:solidFill>
            <a:srgbClr val="0808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608B13-61D5-DAC9-228F-68D2A3D3B8DE}"/>
              </a:ext>
            </a:extLst>
          </p:cNvPr>
          <p:cNvSpPr txBox="1"/>
          <p:nvPr/>
        </p:nvSpPr>
        <p:spPr>
          <a:xfrm>
            <a:off x="6336792" y="2194560"/>
            <a:ext cx="246888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4400" b="1">
                <a:solidFill>
                  <a:srgbClr val="A100FF"/>
                </a:solidFill>
                <a:latin typeface="Cambria" panose="02040503050406030204" pitchFamily="18" charset="0"/>
              </a:rPr>
              <a:t>76%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7A1A6-769E-B981-E959-CEDD390F037D}"/>
              </a:ext>
            </a:extLst>
          </p:cNvPr>
          <p:cNvSpPr txBox="1"/>
          <p:nvPr/>
        </p:nvSpPr>
        <p:spPr>
          <a:xfrm>
            <a:off x="6336792" y="3145536"/>
            <a:ext cx="246888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 b="1">
                <a:solidFill>
                  <a:srgbClr val="CC88FF"/>
                </a:solidFill>
                <a:latin typeface="Calibri" panose="020F0502020204030204" pitchFamily="34" charset="0"/>
              </a:rPr>
              <a:t>degli italiani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3AE1A-3ABC-7AE0-19F8-C3FE9D73D853}"/>
              </a:ext>
            </a:extLst>
          </p:cNvPr>
          <p:cNvSpPr txBox="1"/>
          <p:nvPr/>
        </p:nvSpPr>
        <p:spPr>
          <a:xfrm>
            <a:off x="6336792" y="3474720"/>
            <a:ext cx="246888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>
                <a:solidFill>
                  <a:srgbClr val="888888"/>
                </a:solidFill>
                <a:latin typeface="Calibri" panose="020F0502020204030204" pitchFamily="34" charset="0"/>
              </a:rPr>
              <a:t>Non ha mai investito i propri risparmi in strumenti a lungo termine (ETF, fondi)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2B44B3-2873-5A1B-DAA3-8D9C28DA57CB}"/>
              </a:ext>
            </a:extLst>
          </p:cNvPr>
          <p:cNvSpPr txBox="1"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900">
                <a:solidFill>
                  <a:srgbClr val="AAAAAA"/>
                </a:solidFill>
                <a:latin typeface="Calibri" panose="020F0502020204030204" pitchFamily="34" charset="0"/>
              </a:rPr>
              <a:t>Fonte: OCSE PISA Financial Literacy 2023, Banca d'Italia 2024</a:t>
            </a:r>
          </a:p>
        </p:txBody>
      </p:sp>
    </p:spTree>
    <p:extLst>
      <p:ext uri="{BB962C8B-B14F-4D97-AF65-F5344CB8AC3E}">
        <p14:creationId xmlns:p14="http://schemas.microsoft.com/office/powerpoint/2010/main" val="369213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B7CA71C-EA93-59C4-0167-AD3B43093495}"/>
              </a:ext>
            </a:extLst>
          </p:cNvPr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A0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CBA6A-A587-FABC-6CB2-53316DF37330}"/>
              </a:ext>
            </a:extLst>
          </p:cNvPr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000" b="1">
                <a:solidFill>
                  <a:srgbClr val="A100FF"/>
                </a:solidFill>
                <a:latin typeface="Calibri" panose="020F0502020204030204" pitchFamily="34" charset="0"/>
              </a:rPr>
              <a:t>LA SOLUZIONE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8B22A-19D4-D3FA-D030-E3595C68AA0D}"/>
              </a:ext>
            </a:extLst>
          </p:cNvPr>
          <p:cNvSpPr txBox="1"/>
          <p:nvPr/>
        </p:nvSpPr>
        <p:spPr>
          <a:xfrm>
            <a:off x="457200" y="566928"/>
            <a:ext cx="484632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3600" b="1">
                <a:solidFill>
                  <a:srgbClr val="FFFFFF"/>
                </a:solidFill>
                <a:latin typeface="Cambria" panose="02040503050406030204" pitchFamily="18" charset="0"/>
              </a:rPr>
              <a:t>Imparare giocando.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D9D6A3-26E1-453E-A3C3-6EE40DFA9EDD}"/>
              </a:ext>
            </a:extLst>
          </p:cNvPr>
          <p:cNvSpPr/>
          <p:nvPr/>
        </p:nvSpPr>
        <p:spPr>
          <a:xfrm>
            <a:off x="411480" y="1444752"/>
            <a:ext cx="475488" cy="475488"/>
          </a:xfrm>
          <a:prstGeom prst="ellipse">
            <a:avLst/>
          </a:prstGeom>
          <a:solidFill>
            <a:srgbClr val="2A0060"/>
          </a:solidFill>
          <a:ln w="12700">
            <a:solidFill>
              <a:srgbClr val="A1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it-IT" sz="800" b="1">
                <a:solidFill>
                  <a:srgbClr val="CC88FF"/>
                </a:solidFill>
                <a:latin typeface="Calibri" panose="020F0502020204030204" pitchFamily="34" charset="0"/>
              </a:rPr>
              <a:t>[City]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BA9F57-405E-20F0-D194-208E6AFCA5C8}"/>
              </a:ext>
            </a:extLst>
          </p:cNvPr>
          <p:cNvSpPr txBox="1"/>
          <p:nvPr/>
        </p:nvSpPr>
        <p:spPr>
          <a:xfrm>
            <a:off x="1005840" y="1463040"/>
            <a:ext cx="4023360" cy="3108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FFFFFF"/>
                </a:solidFill>
                <a:latin typeface="Calibri" panose="020F0502020204030204" pitchFamily="34" charset="0"/>
              </a:rPr>
              <a:t>City Builder Finanziario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8EFCC-2C58-A2ED-3BA9-74970D6ED559}"/>
              </a:ext>
            </a:extLst>
          </p:cNvPr>
          <p:cNvSpPr txBox="1"/>
          <p:nvPr/>
        </p:nvSpPr>
        <p:spPr>
          <a:xfrm>
            <a:off x="1005840" y="1792224"/>
            <a:ext cx="4023360" cy="56692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>
                <a:solidFill>
                  <a:srgbClr val="888888"/>
                </a:solidFill>
                <a:latin typeface="Calibri" panose="020F0502020204030204" pitchFamily="34" charset="0"/>
              </a:rPr>
              <a:t>Ogni edificio = una scelta reale. Risparmio,
investimento, protezione dagli imprevisti.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6DAA31-D476-9E58-8E64-7C8A5EE11A00}"/>
              </a:ext>
            </a:extLst>
          </p:cNvPr>
          <p:cNvSpPr/>
          <p:nvPr/>
        </p:nvSpPr>
        <p:spPr>
          <a:xfrm>
            <a:off x="411480" y="2468880"/>
            <a:ext cx="475488" cy="475488"/>
          </a:xfrm>
          <a:prstGeom prst="ellipse">
            <a:avLst/>
          </a:prstGeom>
          <a:solidFill>
            <a:srgbClr val="2A0060"/>
          </a:solidFill>
          <a:ln w="12700">
            <a:solidFill>
              <a:srgbClr val="A1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it-IT" sz="800" b="1">
                <a:solidFill>
                  <a:srgbClr val="CC88FF"/>
                </a:solidFill>
                <a:latin typeface="Calibri" panose="020F0502020204030204" pitchFamily="34" charset="0"/>
              </a:rPr>
              <a:t>[AI]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FAC257-48CD-D1D8-3964-629C0A951EEB}"/>
              </a:ext>
            </a:extLst>
          </p:cNvPr>
          <p:cNvSpPr txBox="1"/>
          <p:nvPr/>
        </p:nvSpPr>
        <p:spPr>
          <a:xfrm>
            <a:off x="1005840" y="2487168"/>
            <a:ext cx="4023360" cy="3108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FFFFFF"/>
                </a:solidFill>
                <a:latin typeface="Calibri" panose="020F0502020204030204" pitchFamily="34" charset="0"/>
              </a:rPr>
              <a:t>Coach AI - Claude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7FD429-CB29-41C6-D8EC-38931E0F0176}"/>
              </a:ext>
            </a:extLst>
          </p:cNvPr>
          <p:cNvSpPr txBox="1"/>
          <p:nvPr/>
        </p:nvSpPr>
        <p:spPr>
          <a:xfrm>
            <a:off x="1005840" y="2816352"/>
            <a:ext cx="4023360" cy="56692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>
                <a:solidFill>
                  <a:srgbClr val="888888"/>
                </a:solidFill>
                <a:latin typeface="Calibri" panose="020F0502020204030204" pitchFamily="34" charset="0"/>
              </a:rPr>
              <a:t>Spiega ogni decisione in modo semplice e contestuale.
Tono mai giudicante.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DDB23F-E11B-90CC-500E-9F3B2073D226}"/>
              </a:ext>
            </a:extLst>
          </p:cNvPr>
          <p:cNvSpPr/>
          <p:nvPr/>
        </p:nvSpPr>
        <p:spPr>
          <a:xfrm>
            <a:off x="411480" y="3493008"/>
            <a:ext cx="475488" cy="475488"/>
          </a:xfrm>
          <a:prstGeom prst="ellipse">
            <a:avLst/>
          </a:prstGeom>
          <a:solidFill>
            <a:srgbClr val="2A0060"/>
          </a:solidFill>
          <a:ln w="12700">
            <a:solidFill>
              <a:srgbClr val="A1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it-IT" sz="800" b="1">
                <a:solidFill>
                  <a:srgbClr val="CC88FF"/>
                </a:solidFill>
                <a:latin typeface="Calibri" panose="020F0502020204030204" pitchFamily="34" charset="0"/>
              </a:rPr>
              <a:t>[EV]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689ACE-2DC4-72AD-0C59-737465A8CE67}"/>
              </a:ext>
            </a:extLst>
          </p:cNvPr>
          <p:cNvSpPr txBox="1"/>
          <p:nvPr/>
        </p:nvSpPr>
        <p:spPr>
          <a:xfrm>
            <a:off x="1005840" y="3511296"/>
            <a:ext cx="4023360" cy="3108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FFFFFF"/>
                </a:solidFill>
                <a:latin typeface="Calibri" panose="020F0502020204030204" pitchFamily="34" charset="0"/>
              </a:rPr>
              <a:t>Scenari Realistici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B18610-0482-C4DE-3999-D10D8AB414E0}"/>
              </a:ext>
            </a:extLst>
          </p:cNvPr>
          <p:cNvSpPr txBox="1"/>
          <p:nvPr/>
        </p:nvSpPr>
        <p:spPr>
          <a:xfrm>
            <a:off x="1005840" y="3840480"/>
            <a:ext cx="4023360" cy="56692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>
                <a:solidFill>
                  <a:srgbClr val="888888"/>
                </a:solidFill>
                <a:latin typeface="Calibri" panose="020F0502020204030204" pitchFamily="34" charset="0"/>
              </a:rPr>
              <a:t>Guasti, bonus, crolli di mercato: la vita finanziaria
simulata in ambiente sicuro.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FD6B93-3341-7A81-43B4-3316834BB07F}"/>
              </a:ext>
            </a:extLst>
          </p:cNvPr>
          <p:cNvSpPr/>
          <p:nvPr/>
        </p:nvSpPr>
        <p:spPr>
          <a:xfrm>
            <a:off x="5321808" y="658368"/>
            <a:ext cx="3584448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14A7CB-9909-3365-BAFF-108D7C87A95E}"/>
              </a:ext>
            </a:extLst>
          </p:cNvPr>
          <p:cNvSpPr txBox="1"/>
          <p:nvPr/>
        </p:nvSpPr>
        <p:spPr>
          <a:xfrm>
            <a:off x="5458968" y="731520"/>
            <a:ext cx="329184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4A3B8"/>
                </a:solidFill>
                <a:latin typeface="Calibri" panose="020F0502020204030204" pitchFamily="34" charset="0"/>
              </a:rPr>
              <a:t>FinCity - Gen 2025 | Score: 72/100</a:t>
            </a:r>
            <a:endParaRPr lang="it-IT" sz="10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9D7E81-63DC-FA81-FD84-7E2BFC1FCF11}"/>
              </a:ext>
            </a:extLst>
          </p:cNvPr>
          <p:cNvSpPr/>
          <p:nvPr/>
        </p:nvSpPr>
        <p:spPr>
          <a:xfrm>
            <a:off x="5458968" y="1115568"/>
            <a:ext cx="731520" cy="7315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27B564-126B-5EAB-F2F9-CC0135AB27AD}"/>
              </a:ext>
            </a:extLst>
          </p:cNvPr>
          <p:cNvSpPr txBox="1"/>
          <p:nvPr/>
        </p:nvSpPr>
        <p:spPr>
          <a:xfrm>
            <a:off x="5458968" y="1316736"/>
            <a:ext cx="731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700">
                <a:solidFill>
                  <a:srgbClr val="FFFFFF"/>
                </a:solidFill>
                <a:latin typeface="Calibri" panose="020F0502020204030204" pitchFamily="34" charset="0"/>
              </a:rPr>
              <a:t>Casa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1FC03A-D524-925B-1957-4F84510418E9}"/>
              </a:ext>
            </a:extLst>
          </p:cNvPr>
          <p:cNvSpPr/>
          <p:nvPr/>
        </p:nvSpPr>
        <p:spPr>
          <a:xfrm>
            <a:off x="6263640" y="1115568"/>
            <a:ext cx="731520" cy="7315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127CA3-BC14-AAC0-9714-B9A07CD9CAE4}"/>
              </a:ext>
            </a:extLst>
          </p:cNvPr>
          <p:cNvSpPr txBox="1"/>
          <p:nvPr/>
        </p:nvSpPr>
        <p:spPr>
          <a:xfrm>
            <a:off x="6263640" y="1316736"/>
            <a:ext cx="731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700">
                <a:solidFill>
                  <a:srgbClr val="FFFFFF"/>
                </a:solidFill>
                <a:latin typeface="Calibri" panose="020F0502020204030204" pitchFamily="34" charset="0"/>
              </a:rPr>
              <a:t>Lavoro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6E8284-0D31-9ECF-9836-24660EB64F64}"/>
              </a:ext>
            </a:extLst>
          </p:cNvPr>
          <p:cNvSpPr/>
          <p:nvPr/>
        </p:nvSpPr>
        <p:spPr>
          <a:xfrm>
            <a:off x="7068312" y="1115568"/>
            <a:ext cx="731520" cy="7315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7194EE-7245-423D-C25F-34AAB446D31C}"/>
              </a:ext>
            </a:extLst>
          </p:cNvPr>
          <p:cNvSpPr txBox="1"/>
          <p:nvPr/>
        </p:nvSpPr>
        <p:spPr>
          <a:xfrm>
            <a:off x="7068312" y="1316736"/>
            <a:ext cx="731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700">
                <a:solidFill>
                  <a:srgbClr val="FFFFFF"/>
                </a:solidFill>
                <a:latin typeface="Calibri" panose="020F0502020204030204" pitchFamily="34" charset="0"/>
              </a:rPr>
              <a:t>Banca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0AF3B9-6A31-6F21-2317-0E889CBD2927}"/>
              </a:ext>
            </a:extLst>
          </p:cNvPr>
          <p:cNvSpPr/>
          <p:nvPr/>
        </p:nvSpPr>
        <p:spPr>
          <a:xfrm>
            <a:off x="7872984" y="1115568"/>
            <a:ext cx="731519" cy="7315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28DBAB-4DB1-7FA2-B758-9087FF61040F}"/>
              </a:ext>
            </a:extLst>
          </p:cNvPr>
          <p:cNvSpPr txBox="1"/>
          <p:nvPr/>
        </p:nvSpPr>
        <p:spPr>
          <a:xfrm>
            <a:off x="7872984" y="1316736"/>
            <a:ext cx="731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700">
                <a:solidFill>
                  <a:srgbClr val="FFFFFF"/>
                </a:solidFill>
                <a:latin typeface="Calibri" panose="020F0502020204030204" pitchFamily="34" charset="0"/>
              </a:rPr>
              <a:t>Fondo Em.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436A75-5AA8-0C39-5978-B7B14EEAA68B}"/>
              </a:ext>
            </a:extLst>
          </p:cNvPr>
          <p:cNvSpPr/>
          <p:nvPr/>
        </p:nvSpPr>
        <p:spPr>
          <a:xfrm>
            <a:off x="5458968" y="1965960"/>
            <a:ext cx="731520" cy="7315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EF00D9-9ED8-B771-3EA3-A8C9F49F68BF}"/>
              </a:ext>
            </a:extLst>
          </p:cNvPr>
          <p:cNvSpPr txBox="1"/>
          <p:nvPr/>
        </p:nvSpPr>
        <p:spPr>
          <a:xfrm>
            <a:off x="5458968" y="2167128"/>
            <a:ext cx="731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700">
                <a:solidFill>
                  <a:srgbClr val="FFFFFF"/>
                </a:solidFill>
                <a:latin typeface="Calibri" panose="020F0502020204030204" pitchFamily="34" charset="0"/>
              </a:rPr>
              <a:t>ETF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DB9970-16F8-0E16-8842-7495DD5D2470}"/>
              </a:ext>
            </a:extLst>
          </p:cNvPr>
          <p:cNvSpPr/>
          <p:nvPr/>
        </p:nvSpPr>
        <p:spPr>
          <a:xfrm>
            <a:off x="6263640" y="1965960"/>
            <a:ext cx="73152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E3B352-006B-0C94-DB04-0B891BAAB2BA}"/>
              </a:ext>
            </a:extLst>
          </p:cNvPr>
          <p:cNvSpPr txBox="1"/>
          <p:nvPr/>
        </p:nvSpPr>
        <p:spPr>
          <a:xfrm>
            <a:off x="6263640" y="2167128"/>
            <a:ext cx="731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700">
                <a:solidFill>
                  <a:srgbClr val="FFFFFF"/>
                </a:solidFill>
                <a:latin typeface="Calibri" panose="020F0502020204030204" pitchFamily="34" charset="0"/>
              </a:rPr>
              <a:t>Formaz.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E00ECD-5278-C45E-DD30-2418CB5A65BF}"/>
              </a:ext>
            </a:extLst>
          </p:cNvPr>
          <p:cNvSpPr/>
          <p:nvPr/>
        </p:nvSpPr>
        <p:spPr>
          <a:xfrm>
            <a:off x="7068312" y="1965960"/>
            <a:ext cx="73152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F8EE94-5908-D52F-8B6B-B05FC13FCE78}"/>
              </a:ext>
            </a:extLst>
          </p:cNvPr>
          <p:cNvSpPr txBox="1"/>
          <p:nvPr/>
        </p:nvSpPr>
        <p:spPr>
          <a:xfrm>
            <a:off x="7068312" y="2167128"/>
            <a:ext cx="731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700">
                <a:solidFill>
                  <a:srgbClr val="FFFFFF"/>
                </a:solidFill>
                <a:latin typeface="Calibri" panose="020F0502020204030204" pitchFamily="34" charset="0"/>
              </a:rPr>
              <a:t>Qualita'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01B00D-4F73-3003-DF4D-4F6A525055D3}"/>
              </a:ext>
            </a:extLst>
          </p:cNvPr>
          <p:cNvSpPr/>
          <p:nvPr/>
        </p:nvSpPr>
        <p:spPr>
          <a:xfrm>
            <a:off x="7872984" y="1965960"/>
            <a:ext cx="731519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391DD3-3F76-C486-5D14-1E5A13B98A83}"/>
              </a:ext>
            </a:extLst>
          </p:cNvPr>
          <p:cNvSpPr txBox="1"/>
          <p:nvPr/>
        </p:nvSpPr>
        <p:spPr>
          <a:xfrm>
            <a:off x="7872984" y="2167128"/>
            <a:ext cx="7315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700">
                <a:solidFill>
                  <a:srgbClr val="FFFFFF"/>
                </a:solidFill>
                <a:latin typeface="Calibri" panose="020F0502020204030204" pitchFamily="34" charset="0"/>
              </a:rPr>
              <a:t>+ Altro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639BDA-1447-7303-64DD-D179A63BBD7C}"/>
              </a:ext>
            </a:extLst>
          </p:cNvPr>
          <p:cNvSpPr/>
          <p:nvPr/>
        </p:nvSpPr>
        <p:spPr>
          <a:xfrm>
            <a:off x="5458968" y="2871216"/>
            <a:ext cx="329184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C55024-7B04-DA21-B85E-99389A4981BA}"/>
              </a:ext>
            </a:extLst>
          </p:cNvPr>
          <p:cNvSpPr txBox="1"/>
          <p:nvPr/>
        </p:nvSpPr>
        <p:spPr>
          <a:xfrm>
            <a:off x="5458968" y="2871216"/>
            <a:ext cx="3291840" cy="3108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900">
                <a:solidFill>
                  <a:srgbClr val="00D4A3"/>
                </a:solidFill>
                <a:latin typeface="Calibri" panose="020F0502020204030204" pitchFamily="34" charset="0"/>
              </a:rPr>
              <a:t>Risp. 3.250  |  Em. 2.400  |  Inv. 5.100  |  Deb. 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6DC90B-A80B-BE7D-31D8-EAF3336C44D2}"/>
              </a:ext>
            </a:extLst>
          </p:cNvPr>
          <p:cNvSpPr/>
          <p:nvPr/>
        </p:nvSpPr>
        <p:spPr>
          <a:xfrm>
            <a:off x="5458968" y="3273552"/>
            <a:ext cx="3291840" cy="1261872"/>
          </a:xfrm>
          <a:prstGeom prst="rect">
            <a:avLst/>
          </a:prstGeom>
          <a:solidFill>
            <a:srgbClr val="180030"/>
          </a:solidFill>
          <a:ln w="12700">
            <a:solidFill>
              <a:srgbClr val="500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D81939-8A67-B42D-6D35-3FAF35A7C1C5}"/>
              </a:ext>
            </a:extLst>
          </p:cNvPr>
          <p:cNvSpPr txBox="1"/>
          <p:nvPr/>
        </p:nvSpPr>
        <p:spPr>
          <a:xfrm>
            <a:off x="5550408" y="3337560"/>
            <a:ext cx="3108960" cy="2560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000" b="1">
                <a:solidFill>
                  <a:srgbClr val="CC88FF"/>
                </a:solidFill>
                <a:latin typeface="Calibri" panose="020F0502020204030204" pitchFamily="34" charset="0"/>
              </a:rPr>
              <a:t>Coach AI (Claude)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3D8B8B-7496-DDE4-E4E3-4EE29AFD43F5}"/>
              </a:ext>
            </a:extLst>
          </p:cNvPr>
          <p:cNvSpPr txBox="1"/>
          <p:nvPr/>
        </p:nvSpPr>
        <p:spPr>
          <a:xfrm>
            <a:off x="5550408" y="3611880"/>
            <a:ext cx="3108960" cy="8229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000">
                <a:solidFill>
                  <a:srgbClr val="DDDDDD"/>
                </a:solidFill>
                <a:latin typeface="Calibri" panose="020F0502020204030204" pitchFamily="34" charset="0"/>
              </a:rPr>
              <a:t>Hai fatto il primo investimento! 200 EU/mese per 10 anni al 7% diventano circa 34.000 EU. La pazienza e' il superpotere dell'investitore.</a:t>
            </a:r>
          </a:p>
        </p:txBody>
      </p:sp>
    </p:spTree>
    <p:extLst>
      <p:ext uri="{BB962C8B-B14F-4D97-AF65-F5344CB8AC3E}">
        <p14:creationId xmlns:p14="http://schemas.microsoft.com/office/powerpoint/2010/main" val="1831646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91EF29-8208-3813-E7E8-B2A20C28BD5B}"/>
              </a:ext>
            </a:extLst>
          </p:cNvPr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000" b="1">
                <a:solidFill>
                  <a:srgbClr val="A100FF"/>
                </a:solidFill>
                <a:latin typeface="Calibri" panose="020F0502020204030204" pitchFamily="34" charset="0"/>
              </a:rPr>
              <a:t>STRUTTURA AGENTICA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43AF7-4DE1-6F1C-D19E-7FA23E27F7A2}"/>
              </a:ext>
            </a:extLst>
          </p:cNvPr>
          <p:cNvSpPr txBox="1"/>
          <p:nvPr/>
        </p:nvSpPr>
        <p:spPr>
          <a:xfrm>
            <a:off x="457200" y="566928"/>
            <a:ext cx="8229600" cy="8412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2800" b="1">
                <a:solidFill>
                  <a:srgbClr val="111111"/>
                </a:solidFill>
                <a:latin typeface="Cambria" panose="02040503050406030204" pitchFamily="18" charset="0"/>
              </a:rPr>
              <a:t>Sviluppato con Claude Code e Agentic Coding.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2EE5C-2ED1-6887-1383-FD9DE769EACD}"/>
              </a:ext>
            </a:extLst>
          </p:cNvPr>
          <p:cNvSpPr/>
          <p:nvPr/>
        </p:nvSpPr>
        <p:spPr>
          <a:xfrm>
            <a:off x="411480" y="1572768"/>
            <a:ext cx="4160520" cy="1298448"/>
          </a:xfrm>
          <a:prstGeom prst="rect">
            <a:avLst/>
          </a:prstGeom>
          <a:solidFill>
            <a:srgbClr val="F8F8F8"/>
          </a:solidFill>
          <a:ln w="12700">
            <a:solidFill>
              <a:srgbClr val="E0B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F0D29F-22F0-6CDC-90A4-B1E75870583F}"/>
              </a:ext>
            </a:extLst>
          </p:cNvPr>
          <p:cNvSpPr/>
          <p:nvPr/>
        </p:nvSpPr>
        <p:spPr>
          <a:xfrm>
            <a:off x="521208" y="1682496"/>
            <a:ext cx="384048" cy="384048"/>
          </a:xfrm>
          <a:prstGeom prst="ellipse">
            <a:avLst/>
          </a:prstGeom>
          <a:solidFill>
            <a:srgbClr val="A10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DDE31-733F-9E4E-3896-E6FB0B235E57}"/>
              </a:ext>
            </a:extLst>
          </p:cNvPr>
          <p:cNvSpPr txBox="1"/>
          <p:nvPr/>
        </p:nvSpPr>
        <p:spPr>
          <a:xfrm>
            <a:off x="1005840" y="1664208"/>
            <a:ext cx="3429000" cy="4754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 b="1">
                <a:solidFill>
                  <a:srgbClr val="111111"/>
                </a:solidFill>
                <a:latin typeface="Courier New" panose="02070309020205020404" pitchFamily="49" charset="0"/>
              </a:rPr>
              <a:t>financial-scenario-generator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83836-45BB-94AC-CBC4-D13C01F462E5}"/>
              </a:ext>
            </a:extLst>
          </p:cNvPr>
          <p:cNvSpPr txBox="1"/>
          <p:nvPr/>
        </p:nvSpPr>
        <p:spPr>
          <a:xfrm>
            <a:off x="1005840" y="2194560"/>
            <a:ext cx="3429000" cy="62179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>
                <a:solidFill>
                  <a:srgbClr val="555555"/>
                </a:solidFill>
                <a:latin typeface="Calibri" panose="020F0502020204030204" pitchFamily="34" charset="0"/>
              </a:rPr>
              <a:t>Genera eventi finanziari realistici con impatti calcolati e messaggi educativi incorporati.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9F7DC4-48E1-FB18-B3F5-0AD700AF8F16}"/>
              </a:ext>
            </a:extLst>
          </p:cNvPr>
          <p:cNvSpPr/>
          <p:nvPr/>
        </p:nvSpPr>
        <p:spPr>
          <a:xfrm>
            <a:off x="4800600" y="1572768"/>
            <a:ext cx="4160520" cy="1298448"/>
          </a:xfrm>
          <a:prstGeom prst="rect">
            <a:avLst/>
          </a:prstGeom>
          <a:solidFill>
            <a:srgbClr val="F8F8F8"/>
          </a:solidFill>
          <a:ln w="12700">
            <a:solidFill>
              <a:srgbClr val="E0B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CFAD80-8580-1148-816D-5DFBD20A8E46}"/>
              </a:ext>
            </a:extLst>
          </p:cNvPr>
          <p:cNvSpPr/>
          <p:nvPr/>
        </p:nvSpPr>
        <p:spPr>
          <a:xfrm>
            <a:off x="4910328" y="1682496"/>
            <a:ext cx="384048" cy="384048"/>
          </a:xfrm>
          <a:prstGeom prst="ellipse">
            <a:avLst/>
          </a:prstGeom>
          <a:solidFill>
            <a:srgbClr val="A10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54782-9006-A1EF-655A-514DF6698790}"/>
              </a:ext>
            </a:extLst>
          </p:cNvPr>
          <p:cNvSpPr txBox="1"/>
          <p:nvPr/>
        </p:nvSpPr>
        <p:spPr>
          <a:xfrm>
            <a:off x="5394960" y="1664208"/>
            <a:ext cx="3429000" cy="4754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 b="1">
                <a:solidFill>
                  <a:srgbClr val="111111"/>
                </a:solidFill>
                <a:latin typeface="Courier New" panose="02070309020205020404" pitchFamily="49" charset="0"/>
              </a:rPr>
              <a:t>financial-coach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70A78-0A09-CD5E-FCCB-8D8607E24E84}"/>
              </a:ext>
            </a:extLst>
          </p:cNvPr>
          <p:cNvSpPr txBox="1"/>
          <p:nvPr/>
        </p:nvSpPr>
        <p:spPr>
          <a:xfrm>
            <a:off x="5394960" y="2194560"/>
            <a:ext cx="3429000" cy="62179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>
                <a:solidFill>
                  <a:srgbClr val="555555"/>
                </a:solidFill>
                <a:latin typeface="Calibri" panose="020F0502020204030204" pitchFamily="34" charset="0"/>
              </a:rPr>
              <a:t>Feedback personalizzato in base allo stato del giocatore. Mock offline o Claude API reale.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FD4DD-521D-1832-D097-BE5691288EAD}"/>
              </a:ext>
            </a:extLst>
          </p:cNvPr>
          <p:cNvSpPr/>
          <p:nvPr/>
        </p:nvSpPr>
        <p:spPr>
          <a:xfrm>
            <a:off x="411480" y="3035808"/>
            <a:ext cx="4160520" cy="1298448"/>
          </a:xfrm>
          <a:prstGeom prst="rect">
            <a:avLst/>
          </a:prstGeom>
          <a:solidFill>
            <a:srgbClr val="F8F8F8"/>
          </a:solidFill>
          <a:ln w="12700">
            <a:solidFill>
              <a:srgbClr val="E0B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247AD8-B135-E348-2B69-D5B7CB679D44}"/>
              </a:ext>
            </a:extLst>
          </p:cNvPr>
          <p:cNvSpPr/>
          <p:nvPr/>
        </p:nvSpPr>
        <p:spPr>
          <a:xfrm>
            <a:off x="521208" y="3145536"/>
            <a:ext cx="384048" cy="384048"/>
          </a:xfrm>
          <a:prstGeom prst="ellipse">
            <a:avLst/>
          </a:prstGeom>
          <a:solidFill>
            <a:srgbClr val="A10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3B23C5-701A-4CC0-C462-96E4E44202B3}"/>
              </a:ext>
            </a:extLst>
          </p:cNvPr>
          <p:cNvSpPr txBox="1"/>
          <p:nvPr/>
        </p:nvSpPr>
        <p:spPr>
          <a:xfrm>
            <a:off x="1005840" y="3127248"/>
            <a:ext cx="3429000" cy="4754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 b="1">
                <a:solidFill>
                  <a:srgbClr val="111111"/>
                </a:solidFill>
                <a:latin typeface="Courier New" panose="02070309020205020404" pitchFamily="49" charset="0"/>
              </a:rPr>
              <a:t>evaluate-player-decision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55C8B7-F9A0-D9DF-9670-F810110C4D97}"/>
              </a:ext>
            </a:extLst>
          </p:cNvPr>
          <p:cNvSpPr txBox="1"/>
          <p:nvPr/>
        </p:nvSpPr>
        <p:spPr>
          <a:xfrm>
            <a:off x="1005840" y="3657600"/>
            <a:ext cx="3429000" cy="62179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>
                <a:solidFill>
                  <a:srgbClr val="555555"/>
                </a:solidFill>
                <a:latin typeface="Calibri" panose="020F0502020204030204" pitchFamily="34" charset="0"/>
              </a:rPr>
              <a:t>Analizza ogni scelta: impatto immediato, proiezione 12 mesi e 5 anni, score 0-100.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B53BCB-CDE9-8043-8760-156A2363B480}"/>
              </a:ext>
            </a:extLst>
          </p:cNvPr>
          <p:cNvSpPr/>
          <p:nvPr/>
        </p:nvSpPr>
        <p:spPr>
          <a:xfrm>
            <a:off x="4800600" y="3035808"/>
            <a:ext cx="4160520" cy="1298448"/>
          </a:xfrm>
          <a:prstGeom prst="rect">
            <a:avLst/>
          </a:prstGeom>
          <a:solidFill>
            <a:srgbClr val="F8F8F8"/>
          </a:solidFill>
          <a:ln w="12700">
            <a:solidFill>
              <a:srgbClr val="E0B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6881BE3-C567-DC34-4DE1-C4298F685CD1}"/>
              </a:ext>
            </a:extLst>
          </p:cNvPr>
          <p:cNvSpPr/>
          <p:nvPr/>
        </p:nvSpPr>
        <p:spPr>
          <a:xfrm>
            <a:off x="4910328" y="3145536"/>
            <a:ext cx="384048" cy="384048"/>
          </a:xfrm>
          <a:prstGeom prst="ellipse">
            <a:avLst/>
          </a:prstGeom>
          <a:solidFill>
            <a:srgbClr val="A10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D701E-C75E-7A88-CFD4-DF3753D43E85}"/>
              </a:ext>
            </a:extLst>
          </p:cNvPr>
          <p:cNvSpPr txBox="1"/>
          <p:nvPr/>
        </p:nvSpPr>
        <p:spPr>
          <a:xfrm>
            <a:off x="5394960" y="3127248"/>
            <a:ext cx="3429000" cy="4754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 b="1">
                <a:solidFill>
                  <a:srgbClr val="111111"/>
                </a:solidFill>
                <a:latin typeface="Courier New" panose="02070309020205020404" pitchFamily="49" charset="0"/>
              </a:rPr>
              <a:t>game-content-creator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C617B2-DB1B-D9BD-8541-A95375F06EF9}"/>
              </a:ext>
            </a:extLst>
          </p:cNvPr>
          <p:cNvSpPr txBox="1"/>
          <p:nvPr/>
        </p:nvSpPr>
        <p:spPr>
          <a:xfrm>
            <a:off x="5394960" y="3657600"/>
            <a:ext cx="3429000" cy="62179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100">
                <a:solidFill>
                  <a:srgbClr val="555555"/>
                </a:solidFill>
                <a:latin typeface="Calibri" panose="020F0502020204030204" pitchFamily="34" charset="0"/>
              </a:rPr>
              <a:t>Genera tutti i testi di gioco seguendo linee guida di accessibilita' linguistica.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2F681A-A99B-2F52-7EA7-F9D60FE7F71F}"/>
              </a:ext>
            </a:extLst>
          </p:cNvPr>
          <p:cNvSpPr/>
          <p:nvPr/>
        </p:nvSpPr>
        <p:spPr>
          <a:xfrm>
            <a:off x="411480" y="4462272"/>
            <a:ext cx="1463040" cy="365760"/>
          </a:xfrm>
          <a:prstGeom prst="rect">
            <a:avLst/>
          </a:prstGeom>
          <a:solidFill>
            <a:srgbClr val="0808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>
                <a:solidFill>
                  <a:srgbClr val="FFFFFF"/>
                </a:solidFill>
                <a:latin typeface="Calibri" panose="020F0502020204030204" pitchFamily="34" charset="0"/>
              </a:rPr>
              <a:t>Turno mensile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A18A4-CBA0-E241-F2E2-3297889322F7}"/>
              </a:ext>
            </a:extLst>
          </p:cNvPr>
          <p:cNvSpPr txBox="1"/>
          <p:nvPr/>
        </p:nvSpPr>
        <p:spPr>
          <a:xfrm>
            <a:off x="1874520" y="4462272"/>
            <a:ext cx="2286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1400" b="1">
                <a:solidFill>
                  <a:srgbClr val="A100F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67D2C2-8A69-ACF0-8993-FD0578A076B6}"/>
              </a:ext>
            </a:extLst>
          </p:cNvPr>
          <p:cNvSpPr/>
          <p:nvPr/>
        </p:nvSpPr>
        <p:spPr>
          <a:xfrm>
            <a:off x="2103120" y="4462272"/>
            <a:ext cx="1463040" cy="365760"/>
          </a:xfrm>
          <a:prstGeom prst="rect">
            <a:avLst/>
          </a:prstGeom>
          <a:solidFill>
            <a:srgbClr val="A10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>
                <a:solidFill>
                  <a:srgbClr val="FFFFFF"/>
                </a:solidFill>
                <a:latin typeface="Calibri" panose="020F0502020204030204" pitchFamily="34" charset="0"/>
              </a:rPr>
              <a:t>Scenario Gen.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7D121D-2E13-0F94-A05F-C318F4B0C64B}"/>
              </a:ext>
            </a:extLst>
          </p:cNvPr>
          <p:cNvSpPr txBox="1"/>
          <p:nvPr/>
        </p:nvSpPr>
        <p:spPr>
          <a:xfrm>
            <a:off x="3566160" y="4462272"/>
            <a:ext cx="2286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1400" b="1">
                <a:solidFill>
                  <a:srgbClr val="A100F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D16FE9-78A9-D670-5675-47D62C91FB17}"/>
              </a:ext>
            </a:extLst>
          </p:cNvPr>
          <p:cNvSpPr/>
          <p:nvPr/>
        </p:nvSpPr>
        <p:spPr>
          <a:xfrm>
            <a:off x="3794760" y="4462272"/>
            <a:ext cx="1463040" cy="365760"/>
          </a:xfrm>
          <a:prstGeom prst="rect">
            <a:avLst/>
          </a:prstGeom>
          <a:solidFill>
            <a:srgbClr val="08080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>
                <a:solidFill>
                  <a:srgbClr val="FFFFFF"/>
                </a:solidFill>
                <a:latin typeface="Calibri" panose="020F0502020204030204" pitchFamily="34" charset="0"/>
              </a:rPr>
              <a:t>Decisione player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566285-C38F-7F43-6717-4AC6EE39E3BC}"/>
              </a:ext>
            </a:extLst>
          </p:cNvPr>
          <p:cNvSpPr txBox="1"/>
          <p:nvPr/>
        </p:nvSpPr>
        <p:spPr>
          <a:xfrm>
            <a:off x="5257800" y="4462272"/>
            <a:ext cx="2286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1400" b="1">
                <a:solidFill>
                  <a:srgbClr val="A100F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4DC6A7-E4D9-9D32-F974-FD092E981D39}"/>
              </a:ext>
            </a:extLst>
          </p:cNvPr>
          <p:cNvSpPr/>
          <p:nvPr/>
        </p:nvSpPr>
        <p:spPr>
          <a:xfrm>
            <a:off x="5486400" y="4462272"/>
            <a:ext cx="1463040" cy="365760"/>
          </a:xfrm>
          <a:prstGeom prst="rect">
            <a:avLst/>
          </a:prstGeom>
          <a:solidFill>
            <a:srgbClr val="A10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>
                <a:solidFill>
                  <a:srgbClr val="FFFFFF"/>
                </a:solidFill>
                <a:latin typeface="Calibri" panose="020F0502020204030204" pitchFamily="34" charset="0"/>
              </a:rPr>
              <a:t>Evaluate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E1F695-5CF6-6624-FDA3-FFB6A46661B5}"/>
              </a:ext>
            </a:extLst>
          </p:cNvPr>
          <p:cNvSpPr txBox="1"/>
          <p:nvPr/>
        </p:nvSpPr>
        <p:spPr>
          <a:xfrm>
            <a:off x="6949440" y="4462272"/>
            <a:ext cx="2286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1400" b="1">
                <a:solidFill>
                  <a:srgbClr val="A100F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41A1AE-231B-699D-88B3-9E72BD874C34}"/>
              </a:ext>
            </a:extLst>
          </p:cNvPr>
          <p:cNvSpPr/>
          <p:nvPr/>
        </p:nvSpPr>
        <p:spPr>
          <a:xfrm>
            <a:off x="7178040" y="4462272"/>
            <a:ext cx="1463040" cy="365760"/>
          </a:xfrm>
          <a:prstGeom prst="rect">
            <a:avLst/>
          </a:prstGeom>
          <a:solidFill>
            <a:srgbClr val="A10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900" b="1">
                <a:solidFill>
                  <a:srgbClr val="FFFFFF"/>
                </a:solidFill>
                <a:latin typeface="Calibri" panose="020F0502020204030204" pitchFamily="34" charset="0"/>
              </a:rPr>
              <a:t>Coach AI</a:t>
            </a:r>
          </a:p>
        </p:txBody>
      </p:sp>
    </p:spTree>
    <p:extLst>
      <p:ext uri="{BB962C8B-B14F-4D97-AF65-F5344CB8AC3E}">
        <p14:creationId xmlns:p14="http://schemas.microsoft.com/office/powerpoint/2010/main" val="4190917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461F674-2A14-1BA3-4121-91DB445BAAA2}"/>
              </a:ext>
            </a:extLst>
          </p:cNvPr>
          <p:cNvSpPr/>
          <p:nvPr/>
        </p:nvSpPr>
        <p:spPr>
          <a:xfrm>
            <a:off x="6400800" y="-457200"/>
            <a:ext cx="3840480" cy="3840480"/>
          </a:xfrm>
          <a:prstGeom prst="ellipse">
            <a:avLst/>
          </a:prstGeom>
          <a:solidFill>
            <a:srgbClr val="1A07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A727857-1F52-EAE1-95EA-85080F0FBF06}"/>
              </a:ext>
            </a:extLst>
          </p:cNvPr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1F07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403F5-18ED-276F-87B3-6C08175894F5}"/>
              </a:ext>
            </a:extLst>
          </p:cNvPr>
          <p:cNvSpPr txBox="1"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000" b="1">
                <a:solidFill>
                  <a:srgbClr val="A100FF"/>
                </a:solidFill>
                <a:latin typeface="Calibri" panose="020F0502020204030204" pitchFamily="34" charset="0"/>
              </a:rPr>
              <a:t>IMPATTO E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09070-F371-9BA0-07D8-E9529A749AEA}"/>
              </a:ext>
            </a:extLst>
          </p:cNvPr>
          <p:cNvSpPr txBox="1"/>
          <p:nvPr/>
        </p:nvSpPr>
        <p:spPr>
          <a:xfrm>
            <a:off x="457200" y="566928"/>
            <a:ext cx="5303520" cy="13258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3800" b="1">
                <a:solidFill>
                  <a:srgbClr val="FFFFFF"/>
                </a:solidFill>
                <a:latin typeface="Cambria" panose="02040503050406030204" pitchFamily="18" charset="0"/>
              </a:rPr>
              <a:t>Un gioco.
Un cambiamento reale.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C69CAB-A948-92C8-44C3-4659ECD495FA}"/>
              </a:ext>
            </a:extLst>
          </p:cNvPr>
          <p:cNvSpPr/>
          <p:nvPr/>
        </p:nvSpPr>
        <p:spPr>
          <a:xfrm>
            <a:off x="411480" y="2103120"/>
            <a:ext cx="1965960" cy="1554480"/>
          </a:xfrm>
          <a:prstGeom prst="rect">
            <a:avLst/>
          </a:prstGeom>
          <a:solidFill>
            <a:srgbClr val="100020"/>
          </a:solidFill>
          <a:ln w="12700">
            <a:solidFill>
              <a:srgbClr val="3A0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F91A3-0C22-C6BC-6F4F-E64E003F6B77}"/>
              </a:ext>
            </a:extLst>
          </p:cNvPr>
          <p:cNvSpPr txBox="1"/>
          <p:nvPr/>
        </p:nvSpPr>
        <p:spPr>
          <a:xfrm>
            <a:off x="411480" y="2176272"/>
            <a:ext cx="1965960" cy="777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4800" b="1">
                <a:solidFill>
                  <a:srgbClr val="A100FF"/>
                </a:solidFill>
                <a:latin typeface="Cambria" panose="02040503050406030204" pitchFamily="18" charset="0"/>
              </a:rPr>
              <a:t>120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BF79C2-9541-58AD-A98A-A7AA8643C026}"/>
              </a:ext>
            </a:extLst>
          </p:cNvPr>
          <p:cNvSpPr txBox="1"/>
          <p:nvPr/>
        </p:nvSpPr>
        <p:spPr>
          <a:xfrm>
            <a:off x="411480" y="2999232"/>
            <a:ext cx="1965960" cy="5943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1100">
                <a:solidFill>
                  <a:srgbClr val="888888"/>
                </a:solidFill>
                <a:latin typeface="Calibri" panose="020F0502020204030204" pitchFamily="34" charset="0"/>
              </a:rPr>
              <a:t>Mesi simulati
in 10 anni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6A496C-3A5C-D8B9-96E7-9349465348F6}"/>
              </a:ext>
            </a:extLst>
          </p:cNvPr>
          <p:cNvSpPr/>
          <p:nvPr/>
        </p:nvSpPr>
        <p:spPr>
          <a:xfrm>
            <a:off x="2560320" y="2103120"/>
            <a:ext cx="1965960" cy="1554480"/>
          </a:xfrm>
          <a:prstGeom prst="rect">
            <a:avLst/>
          </a:prstGeom>
          <a:solidFill>
            <a:srgbClr val="100020"/>
          </a:solidFill>
          <a:ln w="12700">
            <a:solidFill>
              <a:srgbClr val="3A0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AD31A-843D-8639-59CC-63B4C4B36C0B}"/>
              </a:ext>
            </a:extLst>
          </p:cNvPr>
          <p:cNvSpPr txBox="1"/>
          <p:nvPr/>
        </p:nvSpPr>
        <p:spPr>
          <a:xfrm>
            <a:off x="2560320" y="2176272"/>
            <a:ext cx="1965960" cy="777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4800" b="1">
                <a:solidFill>
                  <a:srgbClr val="A100FF"/>
                </a:solidFill>
                <a:latin typeface="Cambria" panose="02040503050406030204" pitchFamily="18" charset="0"/>
              </a:rPr>
              <a:t>7+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D8D0AA-729E-DC2D-9971-12575A37270E}"/>
              </a:ext>
            </a:extLst>
          </p:cNvPr>
          <p:cNvSpPr txBox="1"/>
          <p:nvPr/>
        </p:nvSpPr>
        <p:spPr>
          <a:xfrm>
            <a:off x="2560320" y="2999232"/>
            <a:ext cx="1965960" cy="5943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1100">
                <a:solidFill>
                  <a:srgbClr val="888888"/>
                </a:solidFill>
                <a:latin typeface="Calibri" panose="020F0502020204030204" pitchFamily="34" charset="0"/>
              </a:rPr>
              <a:t>Concetti finanziari
insegnati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1467B5-F30B-C796-D9AA-4B7694498B3E}"/>
              </a:ext>
            </a:extLst>
          </p:cNvPr>
          <p:cNvSpPr/>
          <p:nvPr/>
        </p:nvSpPr>
        <p:spPr>
          <a:xfrm>
            <a:off x="4709160" y="2103120"/>
            <a:ext cx="1965960" cy="1554480"/>
          </a:xfrm>
          <a:prstGeom prst="rect">
            <a:avLst/>
          </a:prstGeom>
          <a:solidFill>
            <a:srgbClr val="100020"/>
          </a:solidFill>
          <a:ln w="12700">
            <a:solidFill>
              <a:srgbClr val="3A0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9A656-A0D8-73D9-F11F-1CC081D129F2}"/>
              </a:ext>
            </a:extLst>
          </p:cNvPr>
          <p:cNvSpPr txBox="1"/>
          <p:nvPr/>
        </p:nvSpPr>
        <p:spPr>
          <a:xfrm>
            <a:off x="4709160" y="2176272"/>
            <a:ext cx="1965960" cy="777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4800" b="1">
                <a:solidFill>
                  <a:srgbClr val="A100FF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F7247D-AA46-2483-5EAB-B63C9CA9076D}"/>
              </a:ext>
            </a:extLst>
          </p:cNvPr>
          <p:cNvSpPr txBox="1"/>
          <p:nvPr/>
        </p:nvSpPr>
        <p:spPr>
          <a:xfrm>
            <a:off x="4709160" y="2999232"/>
            <a:ext cx="1965960" cy="5943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1100">
                <a:solidFill>
                  <a:srgbClr val="888888"/>
                </a:solidFill>
                <a:latin typeface="Calibri" panose="020F0502020204030204" pitchFamily="34" charset="0"/>
              </a:rPr>
              <a:t>Dipendenze
esterne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0D496B-6BA5-4736-EFA4-846F933F8FCB}"/>
              </a:ext>
            </a:extLst>
          </p:cNvPr>
          <p:cNvSpPr/>
          <p:nvPr/>
        </p:nvSpPr>
        <p:spPr>
          <a:xfrm>
            <a:off x="6858000" y="2103120"/>
            <a:ext cx="1965960" cy="1554480"/>
          </a:xfrm>
          <a:prstGeom prst="rect">
            <a:avLst/>
          </a:prstGeom>
          <a:solidFill>
            <a:srgbClr val="100020"/>
          </a:solidFill>
          <a:ln w="12700">
            <a:solidFill>
              <a:srgbClr val="3A0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512542-B8AB-306D-19A4-FDF4F16465E6}"/>
              </a:ext>
            </a:extLst>
          </p:cNvPr>
          <p:cNvSpPr txBox="1"/>
          <p:nvPr/>
        </p:nvSpPr>
        <p:spPr>
          <a:xfrm>
            <a:off x="6858000" y="2176272"/>
            <a:ext cx="1965960" cy="7772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4800" b="1">
                <a:solidFill>
                  <a:srgbClr val="A100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7F8281-60EC-5E31-D3B8-4D60F35FDB93}"/>
              </a:ext>
            </a:extLst>
          </p:cNvPr>
          <p:cNvSpPr txBox="1"/>
          <p:nvPr/>
        </p:nvSpPr>
        <p:spPr>
          <a:xfrm>
            <a:off x="6858000" y="2999232"/>
            <a:ext cx="1965960" cy="5943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it-IT" sz="1100">
                <a:solidFill>
                  <a:srgbClr val="888888"/>
                </a:solidFill>
                <a:latin typeface="Calibri" panose="020F0502020204030204" pitchFamily="34" charset="0"/>
              </a:rPr>
              <a:t>Funzione per
attivare Claude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F9F36E-7B7A-33EC-D663-6B02E1D55D22}"/>
              </a:ext>
            </a:extLst>
          </p:cNvPr>
          <p:cNvSpPr/>
          <p:nvPr/>
        </p:nvSpPr>
        <p:spPr>
          <a:xfrm>
            <a:off x="411480" y="3858768"/>
            <a:ext cx="5166360" cy="685800"/>
          </a:xfrm>
          <a:prstGeom prst="rect">
            <a:avLst/>
          </a:prstGeom>
          <a:solidFill>
            <a:srgbClr val="A10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500" b="1">
                <a:solidFill>
                  <a:srgbClr val="FFFFFF"/>
                </a:solidFill>
                <a:latin typeface="Calibri" panose="020F0502020204030204" pitchFamily="34" charset="0"/>
              </a:rPr>
              <a:t>Prova ora  -  apri app/index.html nel browser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C2FC49-2CA5-63DD-C6E7-E9A7BDC9DD5C}"/>
              </a:ext>
            </a:extLst>
          </p:cNvPr>
          <p:cNvSpPr txBox="1"/>
          <p:nvPr/>
        </p:nvSpPr>
        <p:spPr>
          <a:xfrm>
            <a:off x="5852160" y="594360"/>
            <a:ext cx="3017520" cy="3200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300" b="1">
                <a:solidFill>
                  <a:srgbClr val="CC88FF"/>
                </a:solidFill>
                <a:latin typeface="Calibri" panose="020F0502020204030204" pitchFamily="34" charset="0"/>
              </a:rPr>
              <a:t>Next steps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E6B8D4-B49A-D0D7-C66F-18D2C98405C1}"/>
              </a:ext>
            </a:extLst>
          </p:cNvPr>
          <p:cNvSpPr txBox="1"/>
          <p:nvPr/>
        </p:nvSpPr>
        <p:spPr>
          <a:xfrm>
            <a:off x="5852160" y="1005840"/>
            <a:ext cx="301752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300">
                <a:solidFill>
                  <a:srgbClr val="888888"/>
                </a:solidFill>
                <a:latin typeface="Calibri" panose="020F0502020204030204" pitchFamily="34" charset="0"/>
              </a:rPr>
              <a:t>App mobile + notifiche mensili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1BD885-4096-7C90-89A3-C204D249D880}"/>
              </a:ext>
            </a:extLst>
          </p:cNvPr>
          <p:cNvSpPr txBox="1"/>
          <p:nvPr/>
        </p:nvSpPr>
        <p:spPr>
          <a:xfrm>
            <a:off x="5852160" y="1536192"/>
            <a:ext cx="301752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300">
                <a:solidFill>
                  <a:srgbClr val="888888"/>
                </a:solidFill>
                <a:latin typeface="Calibri" panose="020F0502020204030204" pitchFamily="34" charset="0"/>
              </a:rPr>
              <a:t>Integrazione dati bancari reali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632739-97B9-DA04-8401-4265E6042FA2}"/>
              </a:ext>
            </a:extLst>
          </p:cNvPr>
          <p:cNvSpPr txBox="1"/>
          <p:nvPr/>
        </p:nvSpPr>
        <p:spPr>
          <a:xfrm>
            <a:off x="5852160" y="2066544"/>
            <a:ext cx="301752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300">
                <a:solidFill>
                  <a:srgbClr val="888888"/>
                </a:solidFill>
                <a:latin typeface="Calibri" panose="020F0502020204030204" pitchFamily="34" charset="0"/>
              </a:rPr>
              <a:t>Curriculum per scuole superiori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26EB3B-6786-08FB-D808-CC9AB53A6939}"/>
              </a:ext>
            </a:extLst>
          </p:cNvPr>
          <p:cNvSpPr txBox="1"/>
          <p:nvPr/>
        </p:nvSpPr>
        <p:spPr>
          <a:xfrm>
            <a:off x="5852160" y="2596896"/>
            <a:ext cx="301752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300">
                <a:solidFill>
                  <a:srgbClr val="888888"/>
                </a:solidFill>
                <a:latin typeface="Calibri" panose="020F0502020204030204" pitchFamily="34" charset="0"/>
              </a:rPr>
              <a:t>Versione multilingua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4075A0-19F7-4F83-0D9E-A8480CE2BB78}"/>
              </a:ext>
            </a:extLst>
          </p:cNvPr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it-IT" sz="1000" b="1">
                <a:solidFill>
                  <a:srgbClr val="444444"/>
                </a:solidFill>
                <a:latin typeface="Calibri" panose="020F0502020204030204" pitchFamily="34" charset="0"/>
              </a:rPr>
              <a:t>Accenture  -  AI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4170572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PresentationFormat>Custom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Mangano, Salvatore</dc:creator>
  <cp:lastModifiedBy>Mangano, Salvatore</cp:lastModifiedBy>
  <cp:revision>1</cp:revision>
  <dcterms:created xsi:type="dcterms:W3CDTF">2026-10-05T11:06:42Z</dcterms:created>
  <dcterms:modified xsi:type="dcterms:W3CDTF">2026-10-05T11:06:42Z</dcterms:modified>
</cp:coreProperties>
</file>